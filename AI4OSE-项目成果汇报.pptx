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635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960120"/>
            <a:ext cx="457200" cy="109728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25880" y="960120"/>
            <a:ext cx="457200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AI4OSE · 操作系统教学与内核工程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OSLAB 实验课程设计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sz="30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StarryOS</a:t>
            </a:r>
            <a:r>
              <a:rPr sz="3000" b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宏内核适配成果汇报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657600"/>
            <a:ext cx="2011680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803904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70 个实验 · 三条赛道   ｜   53 个已合入上游 PR · 四架构验证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以真实 Linux 软件与系统调用为引导，差分对齐语义、根治内核缺陷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北极星 ▸ </a:t>
            </a:r>
            <a:r>
              <a:rPr sz="1350" b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一个能跑起大多数 Linux 应用的 Unix 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783080"/>
            <a:ext cx="2377440" cy="2926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Consolas"/>
                <a:ea typeface="Consolas"/>
                <a:cs typeface="Consolas"/>
              </a:rPr>
              <a:t>// qemu-virt MMAP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sz="1050" b="1">
              <a:solidFill>
                <a:srgbClr val="0E749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0x0200_0000  CLINT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0x0C00_0000  PLIC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0x1000_0000  UART0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0x1000_1000  VIRTIO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0x8000_0000  DRAM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2581579" cy="1280160"/>
          </a:xfrm>
          <a:prstGeom prst="rect">
            <a:avLst/>
          </a:prstGeom>
          <a:solidFill>
            <a:srgbClr val="122236"/>
          </a:solidFill>
          <a:ln w="9525">
            <a:solidFill>
              <a:srgbClr val="1B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029200"/>
            <a:ext cx="2581579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266944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70448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实验题目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6251" y="5029200"/>
            <a:ext cx="2581579" cy="1280160"/>
          </a:xfrm>
          <a:prstGeom prst="rect">
            <a:avLst/>
          </a:prstGeom>
          <a:solidFill>
            <a:srgbClr val="122236"/>
          </a:solidFill>
          <a:ln w="9525">
            <a:solidFill>
              <a:srgbClr val="1B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6251" y="5029200"/>
            <a:ext cx="2581579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6251" y="5266944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6251" y="5870448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教学赛道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3862" y="5029200"/>
            <a:ext cx="2581579" cy="1280160"/>
          </a:xfrm>
          <a:prstGeom prst="rect">
            <a:avLst/>
          </a:prstGeom>
          <a:solidFill>
            <a:srgbClr val="122236"/>
          </a:solidFill>
          <a:ln w="9525">
            <a:solidFill>
              <a:srgbClr val="1B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3862" y="5029200"/>
            <a:ext cx="2581579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3862" y="5266944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3862" y="5870448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合入 PR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1473" y="5029200"/>
            <a:ext cx="2581579" cy="1280160"/>
          </a:xfrm>
          <a:prstGeom prst="rect">
            <a:avLst/>
          </a:prstGeom>
          <a:solidFill>
            <a:srgbClr val="122236"/>
          </a:solidFill>
          <a:ln w="9525">
            <a:solidFill>
              <a:srgbClr val="1B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61473" y="5029200"/>
            <a:ext cx="2581579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61473" y="5266944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473" y="5870448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65105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rcore-os/tgoskits</a:t>
            </a: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   ·   AI4OSE OSLAB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CONTENTS 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本次汇报的两条主线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27632"/>
          <a:ext cx="1110996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板块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 1 · 课程设计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AI4OSE OSLAB 70 实验：三轨定位、设计哲学、总线/寄存器/中断套件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lab.md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 2 · 内核适配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StarryOS 宏内核 53 个上游 PR：差分对齐、缺陷根治、地毯测试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prs.md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方案一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Syscall 语义与回归测试（open/openat + uid/gid 凭证家族）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11 个 PR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方案二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 Linux 软件为引导的内核修复 + 语言级地毯测试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42 个 PR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方法论与交付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差分对齐六步流程、交付仓库 hw4os-s5d1t2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§12-13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86400"/>
            <a:ext cx="45720" cy="566928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5486400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一句话概括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先用最小可玩的模型为子系统建立心智模型，再把同一思想工程落地到真内核，并以工业级 Linux 软件反向驱动宏内核缺陷的源码级根治。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635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1B3049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OSLAB 实验课程设计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03320"/>
            <a:ext cx="182880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对标 rustlings 的逐题递进体验：给足脚手架与测试，学生只填核心 // TODO，labctl watch 边改边判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92040"/>
            <a:ext cx="1051560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2D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892040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不正经 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1408" y="4892040"/>
            <a:ext cx="928116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2D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21408" y="4892040"/>
            <a:ext cx="92811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正经 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0692" y="4892040"/>
            <a:ext cx="804672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2D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50692" y="4892040"/>
            <a:ext cx="80467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形态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6532" y="4892040"/>
            <a:ext cx="804672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2D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6532" y="4892040"/>
            <a:ext cx="80467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母题三句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62372" y="4892040"/>
            <a:ext cx="1668780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2D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62372" y="4892040"/>
            <a:ext cx="16687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四变体 + essay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806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0x0200_0000  CLINT      0x0C00_0000  PLIC      0x8000_0000  DRAM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PART 1 · 课程总览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三条互补赛道，70 个实验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72768"/>
          <a:ext cx="1110996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性质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教学目标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不正经 improper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心智模型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用最小、可亲手玩的软/硬件模型，为每个子系统建立感性心智模型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32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正经 proper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工程落地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qemu-virt 真内核上，沿 rcore ch1-8 节奏搭到多核/虚拟化/微内核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32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形态 forms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架构科普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五大内核形态加混合内核的结构权衡，引真实开源实例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4164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推荐学习顺序　</a:t>
            </a:r>
            <a:r>
              <a:rPr sz="1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「不正经 → 正经 → 形态」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10996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先用直觉建立子系统心智模型，再亲手把它们工程落地成真内核，最后回看「内核还能长成什么样」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同一主题常在两轨各出现一次：improper 给朴素直觉（块设备就是数组、MMU 就是软件页表），proper 落到 qemu-virt 真硬件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编号统一两位数加字母后缀（03b、16a、S05c）→ 目录字典序 = 推荐学习顺序 = 拓扑依赖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1 · 课程总览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PART 1 · 设计哲学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贯穿全课的母题：三句话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109960" cy="137160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50800" cy="13716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14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9601200" cy="70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dirty="0" err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软件能做的，硬件也能做</a:t>
            </a:r>
            <a:endParaRPr sz="1650" b="1" dirty="0">
              <a:solidFill>
                <a:srgbClr val="0F1B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同一段逻辑用</a:t>
            </a:r>
            <a:r>
              <a:rPr sz="1250" b="0" dirty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 C / Rust / Verilog / BSV </a:t>
            </a:r>
            <a:r>
              <a:rPr sz="1250" b="0" dirty="0" err="1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同构实现，看清「软件</a:t>
            </a:r>
            <a:r>
              <a:rPr sz="1250" b="0" dirty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 dirty="0" err="1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if-else」与「硬件组合逻辑」本是一回事</a:t>
            </a:r>
            <a:r>
              <a:rPr lang="zh-CN" altLang="en-US" sz="1250" b="0" dirty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，只是泛用与成本考量</a:t>
            </a:r>
            <a:endParaRPr sz="1250" b="0" dirty="0">
              <a:solidFill>
                <a:srgbClr val="3F516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dirty="0" err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回收课次</a:t>
            </a:r>
            <a:r>
              <a:rPr sz="1050" b="1" dirty="0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1050" b="0" dirty="0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01 · 06 · 09 · 10 · 14 ·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99816"/>
            <a:ext cx="11109960" cy="137160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099816"/>
            <a:ext cx="50800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914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硬件能做的，通用处理器也能模拟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一颗 CPU 不过是「取指 → 译码 → 执行」的循环，软件即可把它跑起来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回收课次　</a:t>
            </a:r>
            <a:r>
              <a:rPr sz="1050" b="0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19 ISA 模拟器 · S18 mini-TCG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26864"/>
            <a:ext cx="11109960" cy="137160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626864"/>
            <a:ext cx="50800" cy="13716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791456"/>
            <a:ext cx="914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91456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寄存器、驱动、总线、中断本是同一套「地址 + 位 + 握手」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跨多种语言把同一硬件布局逐位转写，统一硬件与软件驱动的理解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回收课次　</a:t>
            </a:r>
            <a:r>
              <a:rPr sz="1050" b="0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16a–16e 套件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1 · 设计哲学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PART 1 · 不正经轨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心智模型 32 题（选讲）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5321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02 进程调度：进程是卡片、调度器是发牌人，存储与策略必须解耦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04 线程：进程拆成 PCB（资源容器）+ TCB（一把寄存器），进程不干活、线程才干活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05/06 协程：有栈换栈指针、无栈换状态号，async/await 即编译器生成的状态机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08 文件系统：文件、目录、分区都只是块设备上的字节约定（对应 easy-fs）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12 地址空间：手写「软件 MMU」当中间人，无 MMU 的机器也能虚拟出 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737360"/>
            <a:ext cx="9525" cy="2880360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53035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14 特权级：M/S/U 抽象成触发器+比较器+使能位，权力是物理的、由连线决定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19 ISA 模拟器：软件 RV64 取指-译码-执行循环 + DiffTest 差分对拍（对应 NEMU）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20 signal：信号即软件版中断，异步事件随时插入当前执行流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22 namespace：容器不是轻量虚拟机，而是换了视图、记了配额的普通进程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25 组件化内核：分配器/调度器/控制台做成积木，cargo features 拼出不同内核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1109960" cy="91440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029200"/>
            <a:ext cx="50800" cy="9144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共 32 题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把每个子系统讲成「能亲手玩的玩具」——进程是卡片、调度器是发牌人、块设备就是数组、MMU 就是软件页表；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improper 先给最朴素的直觉，正经轨 proper 再把同一思想落到 qemu-virt 真硬件上工程实现。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1 · 不正经轨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PART 1 · 正经轨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qemu-virt 工程落地 32 题，沿 rcore ch1-8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72768"/>
          <a:ext cx="1110996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代表实验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落地内容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引导与 trap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S01 / S01b / S02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SBI 引导链、裸机 no_std 标准库、__alltraps 上下文保存 + 时钟抢占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内存与进程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S05b / S05c / S05e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内核堆、SV39 真三级页表、fork/CoW/exec/wait 完整进程生命周期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驱动与中断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S06 / S06c / S06d / S06e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NS16550 UART、PLIC 外部中断、类型化寄存器图、IPI 多核仲裁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文件与用户态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S07 / S08 / S09 / S10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inode 文件系统、用户态+syscall、迷你 libc、自研用户程序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多核与虚拟化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S13 / S15 / S17 / S18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hart 启动、SMP 细粒度锁、H 扩展 type1 VMM、mini-TCG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形态收尾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S19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宏内核 vs 微内核双形态对比，回扣形态轨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870448"/>
            <a:ext cx="45720" cy="566928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5870448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设计原则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简化的是学生负担，不是功能完整性 —— 每题只实现当下用得到的部分，核心逻辑留作 // TODO。ISA 基准 RV64GC。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1 · 正经轨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PART 1 · 形态轨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五大内核形态 + 混合内核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91056"/>
          <a:ext cx="11109960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形态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核心思想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权衡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代表实例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 宏内核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fs/调度/驱动/内存全塞进同一地址空间直接函数调用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快，但一处崩则全崩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Linux · BSD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F2 微内核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内核退化成「邮局+门卫」，服务全赶到用户态走 IPC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隔离换「多一跳」代价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seL4 · MINIX 3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 外核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内核只安全多路复用裸资源，抽象交给 libOS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把内核做减法推到极致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MIT Exokernel · Nemesis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F4 库内核 unikernel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 例程当库链接进应用，一次 call 替代一次 trap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取消「陷入」，一镜像=一应用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MirageOS · Unikraft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F5 框内核 framekernel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最小可信框架，隔离来自类型系统而非 MMU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单地址空间性能+微内核隔离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Asterinas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F6 混合内核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性能关键留内核直调，需隔离的走消息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「两全其美」的折中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Windows NT · macOS XNU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1 · 形态轨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PART 1 · 本轮亮点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总线·寄存器·中断套件：回到「地址 + 位 + 握手」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5486400" cy="420624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软件侧　</a:t>
            </a:r>
            <a:r>
              <a:rPr sz="12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逐位抄同一张寄存器表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36192"/>
            <a:ext cx="5486400" cy="420624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536192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硬件侧　</a:t>
            </a:r>
            <a:r>
              <a:rPr sz="12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布局的源头 / 同构实现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Rust 走花活：</a:t>
            </a:r>
            <a:r>
              <a:rPr sz="1300" b="0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volatile→bitflags→tock-registers→bytemuck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C 走规矩：</a:t>
            </a:r>
            <a:r>
              <a:rPr sz="1300" b="0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裸汇编 lw/sw+fence → volatile 指针 → 位域 union → inline-asm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16a 总线/cache：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地址区间译码；突发握手提速约 24×；反推「为何要 volatile」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16b 寄存器建模：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同一张 </a:t>
            </a:r>
            <a:r>
              <a:rPr sz="1300" b="0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regdev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表四语言逐位「抄布局」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488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Verilog / BSV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是寄存器与总线布局的源头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essay 承载 </a:t>
            </a:r>
            <a:r>
              <a:rPr sz="1300" b="0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Chisel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与缩减真源码思考题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16c/d/e 中断三层：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CLINT timer/IPI → PLIC 路由 → 多核 claim 仲裁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保证一个 IRQ 只被一个 hart 处理；</a:t>
            </a:r>
            <a:r>
              <a:rPr sz="1300" b="0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S06d/S06e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落到真 NS16550 与 PLIC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45720" cy="566928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943600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立意主线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软件驱动的寄存器模型不过是硬件寄存器布局的语法皮 —— 母题第三句在中断与总线主题上的落地。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1 · 本轮亮点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635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1B304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PART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StarryOS 宏内核适配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03320"/>
            <a:ext cx="1828800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以真实 Linux 软件 / 系统调用为引导，差分对齐 Linux 语义并根治内核缺陷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92040"/>
            <a:ext cx="2039112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892040"/>
            <a:ext cx="203911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53 个 MERGED PR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892040"/>
            <a:ext cx="1668780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4892040"/>
            <a:ext cx="16687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3 个跟踪 issue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8908" y="4892040"/>
            <a:ext cx="804672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78908" y="4892040"/>
            <a:ext cx="80467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两条主线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4748" y="4892040"/>
            <a:ext cx="681228" cy="475488"/>
          </a:xfrm>
          <a:prstGeom prst="roundRect">
            <a:avLst/>
          </a:prstGeom>
          <a:solidFill>
            <a:srgbClr val="12223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4748" y="4892040"/>
            <a:ext cx="68122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四架构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806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0x0200_0000  CLINT      0x0C00_0000  PLIC      0x8000_0000  DRAM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rcore-os / tgoskits 上的适配工作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2581579" cy="1280160"/>
          </a:xfrm>
          <a:prstGeom prst="rect">
            <a:avLst/>
          </a:prstGeom>
          <a:solidFill>
            <a:srgbClr val="EFF4F8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17904"/>
            <a:ext cx="2581579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已合入上游 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251" y="1517904"/>
            <a:ext cx="2581579" cy="1280160"/>
          </a:xfrm>
          <a:prstGeom prst="rect">
            <a:avLst/>
          </a:prstGeom>
          <a:solidFill>
            <a:srgbClr val="EFF4F8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6251" y="1517904"/>
            <a:ext cx="2581579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6251" y="1755648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6251" y="2359152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跟踪 issue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2" y="1517904"/>
            <a:ext cx="2581579" cy="1280160"/>
          </a:xfrm>
          <a:prstGeom prst="rect">
            <a:avLst/>
          </a:prstGeom>
          <a:solidFill>
            <a:srgbClr val="EFF4F8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3862" y="1517904"/>
            <a:ext cx="2581579" cy="4445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3862" y="1755648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2" y="2359152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并行主线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473" y="1517904"/>
            <a:ext cx="2581579" cy="1280160"/>
          </a:xfrm>
          <a:prstGeom prst="rect">
            <a:avLst/>
          </a:prstGeom>
          <a:solidFill>
            <a:srgbClr val="EFF4F8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61473" y="1517904"/>
            <a:ext cx="2581579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1473" y="1755648"/>
            <a:ext cx="25815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473" y="2359152"/>
            <a:ext cx="25815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验证架构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3090672"/>
          <a:ext cx="1110996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主线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 issue / 状态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方案一 #573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 Linux 为 REF 的 syscall 差分/黑盒测试与语义完善（open/openat + uid/gid 家族）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CLOSED · 已闭环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方案二 #764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以真实 Linux 软件为引导，暴露并根治内核缺陷 + 交付语言/工具链地毯测试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OPEN · 收尾中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总跟踪 #766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AI4OSE 宏内核改进 umbrella，统辖三条并行方案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OPEN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48640" y="5650992"/>
            <a:ext cx="4572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5650992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四架构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x86_64 · aarch64 · riscv64 · loongarch64，均经 qemu-10 单核验证；门控以受控打印的红线 token 真断言判绿（而非粗略 exit-0）。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总览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PR 分类计数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53 个 PR 按子系统归并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91056"/>
          <a:ext cx="1110996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 编号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方案一 · Syscall 语义修复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#717 #718 #719 #720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方案一 · Syscall 测试套件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#651 #725 #726 #727 #728 #729 #730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内核修复 · 内存管理 mm/fs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#918 #920 #1120 #1122 #1124 #1164 #1217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内核修复 · CPU 与信号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#916 #917 #1112 #1128 #1329 #1331 #1366 #1367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内核修复 · 网络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#914 #921 #923 #1119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内核修复 · 进程 / proc / IPC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#915 #924 #925 #1118 #1121 #1213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内核修复 · 平台 / 引导 / 地址空间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#873 #919 #922 #1214 #1280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内核修复 · CI / 基础兼容 / 杂项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#785 #1129 #1168 #1210 #1315 #1114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方案二 · 语言级地毯测试套件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#1211 #1257 #1261 #1282 #1283 #1285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PR 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方案一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Syscall 语义与兼容性：以 Linux 为 REF 的差分测试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5321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覆盖 16 项 syscall：open / openat + 凭证身份簇 14 个（uid/gid 全家族）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方法论：通读 man + POSIX + 实现 → 笛卡尔完备矩阵（ERRNO 全枚举 + 边界 + race/fork-inherit）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宿主 gcc 跑 Linux 基线为 ground truth → 四架构 StarryOS 对比 → 不一致即判内核语义偏差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评审不动点循环：不少于两个互补角度、连续两轮无发现才退出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0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发现 9 个语义差异并各附宿主复现（上游 issue #708–#716）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5394960" cy="416052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9496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556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uid/gid 五组矩阵真断言通过 ≈ </a:t>
            </a:r>
            <a:r>
              <a:rPr sz="1500" b="1">
                <a:solidFill>
                  <a:srgbClr val="926B0C"/>
                </a:solidFill>
                <a:latin typeface="Consolas"/>
                <a:ea typeface="Consolas"/>
                <a:cs typeface="Consolas"/>
              </a:rPr>
              <a:t>5233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37960" y="2249424"/>
          <a:ext cx="484632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测试组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getters（6 getter）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495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direct-setters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477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re-setters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915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res-setters（规模最大）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3052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groups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294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open-family（28 模块）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宿主全绿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37960" y="53492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提交均经 GPG 签名 · 每 PR 单提交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方案一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内核修复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内存管理 mm / fs（7 个 PR）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1099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#918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mprotect 对范围内空洞返回 ENOMEM —— 不再静默跳过中段/末尾未映射页，误导 GC/JIT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#920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修跨拆分文件映射共享页缓存逐出的 use-after-free —— loongarch64 JVM 偶发野指针根因；先 unmap 全部 owner、后释放帧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#1124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截断收缩时清零最后部分页尾部 —— sqlite WAL 跨进程重开失败根因；juicefs 1.3.1 由 3/4 升至 4/4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#1164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file-backed mmap populate 在 EOF 处收口 —— etcd/bbolt 10 GB 稀疏映射不再 40 万页 OOM，四架构全绿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#1217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file-backed mmap readahead 批量缺页填充 —— 186 MB libLLVM 由约 46K 次独立读降为成段合并读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#1120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mmap 拒绝 addr+length 溢出（checked_add → EINVAL）；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#1122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mlock 真正 fault 范围并对空洞报 ENOMEM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779008"/>
            <a:ext cx="4572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5779008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共性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多为「假成功 / 静默跳过 / 陈旧字节」类语义偏差——每个缺陷均附最小可复现回归测试（修前 FAIL → 修后 PASS），四架构据实核验。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内核修复 ·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内核修复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CPU 与信号 axcpu / signal（8 个 PR）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1099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#916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x86-64 uc_mcontext 保持 Linux ABI 偏移 40 —— 修 Go 异步抢占 SIGURG 错位 panic（const-assert 守卫）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#917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loongarch64 让用户态 LSX 可用 —— 保存全 128 位 FP/LSX 状态 + 修 uc_mcontext + 通告 AT_HWCAP，numpy 可 import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#1112 / #1329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x86 AVX：启用 XCR0 AVX/SSE 状态 + 上下文切换改 XSAVE/XRSTOR 保全 YMM 高 128 位（JVM/NumPy）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#1128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aarch64 EL0 MRS 读 ID_AA64* 特性寄存器模拟 —— 解锁全部 arm64 Go 二进制（consul/etcd/minio/juicefs）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#1366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新建 x86 任务 x87 栈播种为空（FXSAVE tag）—— 根治 OpenJDK 递归 %fs:0 SIGSEGV 风暴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13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#1331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同步 SIGSEGV 填充 si_addr；</a:t>
            </a:r>
            <a:r>
              <a:rPr sz="13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#1367</a:t>
            </a:r>
            <a:r>
              <a:rPr sz="1350" b="0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 x86 #DE 投递为 SIGFPE/FPE_INTDIV —— java-lang 恢复 13/13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779008"/>
            <a:ext cx="4572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5779008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共性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症状多为 ABI 偏移错位与扩展状态（FP/LSX/AVX/x87）保存遗漏——一处错位即触发 JVM / Go 运行时崩溃，下一页以 #1366 为例还原其根治链路。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内核修复 ·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缺陷根治范例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一个 bit 的血案：#1366 x87 栈标签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1109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926B0C"/>
                </a:solidFill>
                <a:latin typeface="Consolas"/>
                <a:ea typeface="Consolas"/>
                <a:cs typeface="Consolas"/>
              </a:rPr>
              <a:t>#1366 fix(axcpu): seed a fresh x86_64 task's x87 stack as empty (FXSAVE tag)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38528"/>
            <a:ext cx="877824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症状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01952"/>
            <a:ext cx="5532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x86_64 OpenJDK 递归 %fs:0 SIGSEGV 风暴；javac 编译较大源文件即 Trace/breakpoint 中止。仅在 FXSAVE 回退路径（默认 qemu64）复现。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71216"/>
            <a:ext cx="877824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871216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根因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34640"/>
            <a:ext cx="5532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ExtendedState::default() 把 x87 缩略标签字 ftw 播种为 0xFFFF（八个寄存器全标占用＝满栈）；新任务恢复后首条 fld/fild 即栈溢出。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03904"/>
            <a:ext cx="877824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803904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767328"/>
            <a:ext cx="5532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ftw 改播种为 0x0000（缩略「全空」），与 FNINIT / Linux 全新 FPU 初始状态一致；fcw=0x037f、mxcsr=0x1f80 不变，仅一字之差。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938528"/>
            <a:ext cx="4343400" cy="2670048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938528"/>
            <a:ext cx="434340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12140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9CB0"/>
                </a:solidFill>
                <a:latin typeface="Consolas"/>
                <a:ea typeface="Consolas"/>
                <a:cs typeface="Consolas"/>
              </a:rPr>
              <a:t>// FXSAVE 标签字 ftw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450592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C2A2A"/>
                </a:solidFill>
                <a:latin typeface="Consolas"/>
                <a:ea typeface="Consolas"/>
                <a:cs typeface="Consolas"/>
              </a:rPr>
              <a:t>- ftw = 0xFFFF</a:t>
            </a: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   // 满栈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798064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9E4B"/>
                </a:solidFill>
                <a:latin typeface="Consolas"/>
                <a:ea typeface="Consolas"/>
                <a:cs typeface="Consolas"/>
              </a:rPr>
              <a:t>+ ftw = 0x0000</a:t>
            </a:r>
            <a:r>
              <a:rPr sz="110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   // 全空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3255264"/>
            <a:ext cx="3886200" cy="9525"/>
          </a:xfrm>
          <a:prstGeom prst="rect">
            <a:avLst/>
          </a:prstGeom>
          <a:solidFill>
            <a:srgbClr val="35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338328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9CB0"/>
                </a:solidFill>
                <a:latin typeface="Consolas"/>
                <a:ea typeface="Consolas"/>
                <a:cs typeface="Consolas"/>
              </a:rPr>
              <a:t>//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675887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test-x87-fresh-stack   3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968495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java-lang  x86_64  13/13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261103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segv34 = 0   aarch64 13/13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2A2A"/>
                </a:solidFill>
                <a:latin typeface="Microsoft YaHei"/>
                <a:ea typeface="Microsoft YaHei"/>
                <a:cs typeface="Microsoft YaHei"/>
              </a:rPr>
              <a:t>血案链　</a:t>
            </a:r>
            <a:r>
              <a:rPr sz="115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一字之差，殃及整条线程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58384"/>
            <a:ext cx="1554480" cy="457200"/>
          </a:xfrm>
          <a:prstGeom prst="roundRect">
            <a:avLst/>
          </a:prstGeom>
          <a:solidFill>
            <a:srgbClr val="EFF4F8"/>
          </a:solidFill>
          <a:ln w="9525">
            <a:solidFill>
              <a:srgbClr val="DC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35838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C2A2A"/>
                </a:solidFill>
                <a:latin typeface="Consolas"/>
                <a:ea typeface="Consolas"/>
                <a:cs typeface="Consolas"/>
              </a:rPr>
              <a:t>ftw=0xFFFF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5358384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87168" y="5358384"/>
            <a:ext cx="1170432" cy="457200"/>
          </a:xfrm>
          <a:prstGeom prst="roundRect">
            <a:avLst/>
          </a:prstGeom>
          <a:solidFill>
            <a:srgbClr val="EFF4F8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87168" y="535838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x87 栈溢出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2464" y="5358384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41648" y="5358384"/>
            <a:ext cx="1426464" cy="457200"/>
          </a:xfrm>
          <a:prstGeom prst="roundRect">
            <a:avLst/>
          </a:prstGeom>
          <a:solidFill>
            <a:srgbClr val="EFF4F8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41648" y="5358384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fmt_fp 越界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2976" y="5358384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5358384"/>
            <a:ext cx="1298448" cy="457200"/>
          </a:xfrm>
          <a:prstGeom prst="roundRect">
            <a:avLst/>
          </a:prstGeom>
          <a:solidFill>
            <a:srgbClr val="EFF4F8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160" y="5358384"/>
            <a:ext cx="12984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写穿 %fs:0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5358384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34656" y="5358384"/>
            <a:ext cx="1554480" cy="457200"/>
          </a:xfrm>
          <a:prstGeom prst="roundRect">
            <a:avLst/>
          </a:prstGeom>
          <a:solidFill>
            <a:srgbClr val="EFF4F8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34656" y="535838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%fs:0 ==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358384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73184" y="5358384"/>
            <a:ext cx="1554480" cy="457200"/>
          </a:xfrm>
          <a:prstGeom prst="roundRect">
            <a:avLst/>
          </a:prstGeom>
          <a:solidFill>
            <a:srgbClr val="EFF4F8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73184" y="535838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SIGSEGV 风暴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缺陷根治范例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内核修复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网络 · 进程/proc/IPC · 平台/引导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84448" cy="47548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84448" cy="381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5844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网络 starry-net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3493008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#914/#921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epoll_event 逐字节拷贝 + 去对齐检查（Go netpoll EFAULT）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#921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netlink MSG_PEEK/TRUNC/DONTWAIT（getifaddrs）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#923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SIOCGIFINDEX + 非零 SIOCGIFCONF（OpenJDK）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#1119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netlink bind/connect 接受过大 addrlen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84448" cy="47548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84448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554480"/>
            <a:ext cx="35844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进程 / proc / IPC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12848"/>
            <a:ext cx="3493008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#915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/proc status 加 Threads + statm（psutil）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#925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SIGSTOP 挂起而非杀死（作业控制状态机）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#1118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ShmidDs 布局对齐 Linux shmid64_ds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#924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sys_getcpu；#1121 /proc/sys stub；#1213 /dev/vda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584448" cy="47548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584448" cy="381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554480"/>
            <a:ext cx="35844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 / 引导 / 地址空间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212848"/>
            <a:ext cx="3493008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#873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loongarch64 运行时 IPI 非阻塞，修 SMP 突发死锁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#922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从最大空闲区初始化页分配器，修 loong 大内存 OOM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#1214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从 FDT 探测 RAM 大小；#919 park 超额 hart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50" b="1">
                <a:solidFill>
                  <a:srgbClr val="0F1B2B"/>
                </a:solidFill>
                <a:latin typeface="Consolas"/>
                <a:ea typeface="Consolas"/>
                <a:cs typeface="Consolas"/>
              </a:rPr>
              <a:t>#1280 </a:t>
            </a:r>
            <a:r>
              <a:rPr sz="115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loongarch64 用户 VA 窗口扩至 128 TiB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4572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5943600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CI / 基础兼容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#785/#1129/#1315 超时治标；#1210 legacy getrlimit 路由 prlimit64；#1168 TUI 兼容；#1114 六项基础兼容修复。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内核修复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方案二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语言级地毯测试套件 apps/starry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91056"/>
          <a:ext cx="1110996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套件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门控结果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#1257 Python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CPython 3.14，22 自包含模块，约 3500+ 真断言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aa/rv/loong 各 22/22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#1261 Java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OpenJDK 17/21/23/25 多版本并存，全 JLS 语法地毯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四架构 AGGREGATE 13/13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#1282 Go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 1.26 全静态二进制，2018 条确定化断言 + 框架运行时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aa/rv/loong golden 逐字节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#1283 Node.js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 v22.22.2（V8 全 JIT），367 真断言 + TS/Kotlin-JS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aa/rv/loong 367/367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#1285 HDL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Verilator/iverilog/Make/Bluespec/yosys 六条工具链 leg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aa/rv/loong 各 6/6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#1211 pip/uv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pip 26.1.2 + uv 0.11.19，17 阶段全离线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四架构 240/240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715000"/>
            <a:ext cx="4572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5715000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据实标注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x86_64 多由 CI matrix 覆盖（本地受 PVH -kernel 加载器限制）；未交付/部分交付项（npm/astro/grafana/dnsmasq/ros2 等）均据实写明真因，不预填臆测数据。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PART 2 · 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统一的差分对齐六步流程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25880" cy="444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5440680" cy="100584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38100" cy="100584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" y="2029968"/>
            <a:ext cx="457200" cy="457200"/>
          </a:xfrm>
          <a:prstGeom prst="ellipse">
            <a:avLst/>
          </a:prstGeom>
          <a:solidFill>
            <a:srgbClr val="0F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75564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测例完备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覆盖语言/版本特性、高级语法、并发、标准库与边界，对标工业级全覆盖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35808"/>
            <a:ext cx="5440680" cy="100584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035808"/>
            <a:ext cx="38100" cy="100584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3232" y="3310128"/>
            <a:ext cx="457200" cy="457200"/>
          </a:xfrm>
          <a:prstGeom prst="ellipse">
            <a:avLst/>
          </a:prstGeom>
          <a:solidFill>
            <a:srgbClr val="0F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310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3580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宿主基准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在宿主上编译运行取得参照结果，作为第一层 ground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15968"/>
            <a:ext cx="5440680" cy="100584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315968"/>
            <a:ext cx="38100" cy="100584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" y="4590288"/>
            <a:ext cx="457200" cy="457200"/>
          </a:xfrm>
          <a:prstGeom prst="ellipse">
            <a:avLst/>
          </a:prstGeom>
          <a:solidFill>
            <a:srgbClr val="0F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31596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Linux 参照层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qemu-10 的 Linux 四架构运行，作为金标准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755648"/>
            <a:ext cx="5440680" cy="100584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1755648"/>
            <a:ext cx="38100" cy="10058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2029968"/>
            <a:ext cx="457200" cy="457200"/>
          </a:xfrm>
          <a:prstGeom prst="ellipse">
            <a:avLst/>
          </a:prstGeom>
          <a:solidFill>
            <a:srgbClr val="0F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175564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StarryOS 差分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四架构 StarryOS 逐项比对，任何不一致即定位为待根治内核缺陷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035808"/>
            <a:ext cx="5440680" cy="100584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3035808"/>
            <a:ext cx="38100" cy="10058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64224" y="3310128"/>
            <a:ext cx="457200" cy="457200"/>
          </a:xfrm>
          <a:prstGeom prst="ellipse">
            <a:avLst/>
          </a:prstGeom>
          <a:solidFill>
            <a:srgbClr val="0F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4224" y="3310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03580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根治内核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从源码层面修复根因，每个修复附可复现回归测试（修前 FAIL、修后 PASS）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315968"/>
            <a:ext cx="5440680" cy="1005840"/>
          </a:xfrm>
          <a:prstGeom prst="rect">
            <a:avLst/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99632" y="4315968"/>
            <a:ext cx="38100" cy="10058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64224" y="4590288"/>
            <a:ext cx="457200" cy="457200"/>
          </a:xfrm>
          <a:prstGeom prst="ellipse">
            <a:avLst/>
          </a:prstGeom>
          <a:solidFill>
            <a:srgbClr val="0F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4224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31596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B2B"/>
                </a:solidFill>
                <a:latin typeface="Microsoft YaHei"/>
                <a:ea typeface="Microsoft YaHei"/>
                <a:cs typeface="Microsoft YaHei"/>
              </a:rPr>
              <a:t>多角度评审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以互补视角对抗式复核，确认无误后据实标记完成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870448"/>
            <a:ext cx="4572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5870448"/>
            <a:ext cx="10945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判定真绿的权威信号　</a:t>
            </a:r>
            <a:r>
              <a:rPr sz="1300" b="0">
                <a:solidFill>
                  <a:srgbClr val="3F5167"/>
                </a:solidFill>
                <a:latin typeface="Microsoft YaHei"/>
                <a:ea typeface="Microsoft YaHei"/>
                <a:cs typeface="Microsoft YaHei"/>
              </a:rPr>
              <a:t>xtask 返回码为 0、日志命中成功模式、以「N/N case(s) passed」收尾 —— 不以事后文本匹配臆断。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AI4OSE</a:t>
            </a:r>
            <a:r>
              <a:rPr sz="9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  //  Part 2 · 方法论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105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F5167"/>
                </a:solidFill>
                <a:latin typeface="Consolas"/>
                <a:ea typeface="Consolas"/>
                <a:cs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635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EE"/>
                </a:solidFill>
                <a:latin typeface="Consolas"/>
                <a:ea typeface="Consolas"/>
                <a:cs typeface="Consolas"/>
              </a:rPr>
              <a:t>// SUMMARY · 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84124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一套教学法，两份工业级成果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17904"/>
            <a:ext cx="10652760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17904"/>
            <a:ext cx="5080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517904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北极星目标</a:t>
            </a:r>
            <a:r>
              <a:rPr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14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把 </a:t>
            </a:r>
            <a:r>
              <a:rPr sz="14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StarryOS</a:t>
            </a:r>
            <a:r>
              <a:rPr sz="14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宏内核一路推进到</a:t>
            </a:r>
            <a:r>
              <a:rPr sz="14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sz="14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能跑起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大多数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Linux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r>
              <a:rPr sz="14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4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Unix </a:t>
            </a:r>
            <a:r>
              <a:rPr sz="14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系统</a:t>
            </a:r>
            <a:r>
              <a:rPr sz="14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dirty="0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课程：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70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个实验三轨递进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，「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直觉心智模型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真内核工程落地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内核形态科普」完整闭环</a:t>
            </a:r>
            <a:endParaRPr sz="1500" b="0" dirty="0">
              <a:solidFill>
                <a:srgbClr val="E6EDF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▸ 内核：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53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个上游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PR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全部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MERGED，以真实 Linux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软件反向驱动宏内核缺陷的源码级根治</a:t>
            </a:r>
            <a:endParaRPr sz="1500" b="0" dirty="0">
              <a:solidFill>
                <a:srgbClr val="E6EDF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dirty="0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500" b="1" dirty="0" err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验证：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覆盖四架构</a:t>
            </a:r>
            <a:r>
              <a:rPr sz="1500" b="0" dirty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 x86_64 / aarch64 / riscv64 / loongarch64，红线 token </a:t>
            </a:r>
            <a:r>
              <a:rPr sz="1500" b="0" dirty="0" err="1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真断言门控</a:t>
            </a:r>
            <a:endParaRPr sz="1500" b="0" dirty="0">
              <a:solidFill>
                <a:srgbClr val="E6EDF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交付仓库 </a:t>
            </a:r>
            <a:r>
              <a:rPr sz="16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hw4os-s5d1t2</a:t>
            </a:r>
            <a:r>
              <a:rPr sz="16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（按分支组织）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4425696"/>
          <a:ext cx="1065276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分支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DD4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101600" marR="88900" marT="25400" marB="25400" anchor="ctr">
                    <a:solidFill>
                      <a:srgbClr val="0F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main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仓库索引，说明各分支用途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osdst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 StarryOS 的 Linux 软件 / 语言运行时 / 工具链地毯级测试交付</a:t>
                      </a:r>
                    </a:p>
                  </a:txBody>
                  <a:tcPr marL="101600" marR="88900" marT="12700" marB="127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B2B"/>
                          </a:solidFill>
                          <a:latin typeface="Consolas"/>
                          <a:ea typeface="Consolas"/>
                          <a:cs typeface="Consolas"/>
                        </a:rPr>
                        <a:t>oslab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自行设计的 RISC-V 操作系统实验课程</a:t>
                      </a:r>
                    </a:p>
                  </a:txBody>
                  <a:tcPr marL="101600" marR="88900" marT="12700" marB="127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623620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每个子目录含测试用例与源码、四架构运行配置、软件包来源说明与运行指引。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635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REFLECTION · 工具观（组会答辩补充）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85953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之于工程：苦力、破壁机、与全图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73936"/>
            <a:ext cx="5029200" cy="175564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73936"/>
            <a:ext cx="5029200" cy="381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95681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「苦力」　把人从重复里赎回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359152"/>
            <a:ext cx="45262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DBDD0"/>
                </a:solidFill>
                <a:latin typeface="Microsoft YaHei"/>
                <a:ea typeface="Microsoft YaHei"/>
                <a:cs typeface="Microsoft YaHei"/>
              </a:rPr>
              <a:t>写项目难免重复劳动——前端、CV 几十上百次的复制粘贴。等想法被验证，距灵感初现往往已过去很久、思路都断了；AI 秒起原型、即时验证，把时间还给架构与设计的思考。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773936"/>
            <a:ext cx="5029200" cy="175564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1773936"/>
            <a:ext cx="502920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38544" y="195681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「破壁机 / 卫星导航」　打掉学习成本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2359152"/>
            <a:ext cx="45262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DBDD0"/>
                </a:solidFill>
                <a:latin typeface="Microsoft YaHei"/>
                <a:ea typeface="Microsoft YaHei"/>
                <a:cs typeface="Microsoft YaHei"/>
              </a:rPr>
              <a:t>过去吃干货靠生啃，找资料找资源像在雾里爬山。AI 把硬骨头捋顺打碎喂过来，像开了卫星导航——大幅缩减学习成本，直奔目标。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57600"/>
            <a:ext cx="5029200" cy="175564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5029200" cy="381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" y="3840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「透视 + 全图」　一览全局、定点打击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242816"/>
            <a:ext cx="45262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DBDD0"/>
                </a:solidFill>
                <a:latin typeface="Microsoft YaHei"/>
                <a:ea typeface="Microsoft YaHei"/>
                <a:cs typeface="Microsoft YaHei"/>
              </a:rPr>
              <a:t>原以为学新东西仍要很久；有了 AI 像开了透视加全图，快速消化海量干货——很快到「原来不过如此」的一览无余，看清全局后精准出手。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3657600"/>
            <a:ext cx="5029200" cy="175564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82512" y="3657600"/>
            <a:ext cx="502920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38544" y="3840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「底座」　基础学科仍要自己内化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4242816"/>
            <a:ext cx="45262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DBDD0"/>
                </a:solidFill>
                <a:latin typeface="Microsoft YaHei"/>
                <a:ea typeface="Microsoft YaHei"/>
                <a:cs typeface="Microsoft YaHei"/>
              </a:rPr>
              <a:t>即便没有 AI，学懂数字电路就能在 MC / 泰拉瑞亚里搓出能跑游戏的「计算机」，再写程序、跑 UI——徒手为自己造工具，始终是一种底气。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669280"/>
            <a:ext cx="10634472" cy="585216"/>
          </a:xfrm>
          <a:prstGeom prst="rect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102412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一句话　</a:t>
            </a:r>
            <a:r>
              <a:rPr sz="1350" b="0">
                <a:solidFill>
                  <a:srgbClr val="E6EDF4"/>
                </a:solidFill>
                <a:latin typeface="Microsoft YaHei"/>
                <a:ea typeface="Microsoft YaHei"/>
                <a:cs typeface="Microsoft YaHei"/>
              </a:rPr>
              <a:t>AI 是加速器，不是替代——它放大的是思考与设计的时间；真正的底座，仍是学懂、内化、能徒手造工具的基础学科。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635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395728"/>
            <a:ext cx="457200" cy="109728"/>
          </a:xfrm>
          <a:prstGeom prst="rect">
            <a:avLst/>
          </a:prstGeom>
          <a:solidFill>
            <a:srgbClr val="2D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25880" y="2395728"/>
            <a:ext cx="457200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7947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DD4EE"/>
                </a:solidFill>
                <a:latin typeface="Microsoft YaHei"/>
                <a:ea typeface="Microsoft YaHei"/>
                <a:cs typeface="Microsoft YaHei"/>
              </a:rPr>
              <a:t>AI4OSE · OSLAB 实验课程设计与 StarryOS 宏内核适配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31596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B9CB0"/>
                </a:solidFill>
                <a:latin typeface="Consolas"/>
                <a:ea typeface="Consolas"/>
                <a:cs typeface="Consolas"/>
              </a:rPr>
              <a:t>rcore-os/tgoskits</a:t>
            </a:r>
            <a:r>
              <a:rPr sz="1300" b="0">
                <a:solidFill>
                  <a:srgbClr val="8B9CB0"/>
                </a:solidFill>
                <a:latin typeface="Microsoft YaHei"/>
                <a:ea typeface="Microsoft YaHei"/>
                <a:cs typeface="Microsoft YaHei"/>
              </a:rPr>
              <a:t>　·　四架构 qemu-10 验证　·　53 PR 全部 MERGED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29200"/>
            <a:ext cx="2377440" cy="2926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0E7490"/>
                </a:solidFill>
                <a:latin typeface="Consolas"/>
                <a:ea typeface="Consolas"/>
                <a:cs typeface="Consolas"/>
              </a:rPr>
              <a:t>// qemu-virt MMAP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sz="1000" b="1">
              <a:solidFill>
                <a:srgbClr val="0E749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0x0200_0000  CLINT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0x0C00_0000  PLIC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0x1000_0000  UART0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0x1000_1000  VIRTIO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354B63"/>
                </a:solidFill>
                <a:latin typeface="Consolas"/>
                <a:ea typeface="Consolas"/>
                <a:cs typeface="Consolas"/>
              </a:rPr>
              <a:t>0x8000_0000  DRAM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2639</Words>
  <Application>Microsoft Office PowerPoint</Application>
  <PresentationFormat>宽屏</PresentationFormat>
  <Paragraphs>435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 Cheng</cp:lastModifiedBy>
  <cp:revision>2</cp:revision>
  <dcterms:created xsi:type="dcterms:W3CDTF">2013-01-27T09:14:16Z</dcterms:created>
  <dcterms:modified xsi:type="dcterms:W3CDTF">2026-06-28T12:01:46Z</dcterms:modified>
  <cp:category/>
</cp:coreProperties>
</file>